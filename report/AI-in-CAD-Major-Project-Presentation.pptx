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</a:t>
            </a:r>
          </a:p>
          <a:p>
            <a:r>
              <a:t>Good morning. Our major project is the Strategic Application of Artificial Intelligence in CAD.</a:t>
            </a:r>
          </a:p>
          <a:p>
            <a:r>
              <a:t>We are five: Ankur, myself, Atishay, Bhavya and Dharmendra, guided by Dr. Rawal.</a:t>
            </a:r>
          </a:p>
          <a:p>
            <a:r>
              <a:t>In one line: you type a sentence like "knuckle joint for 50 kN", and the software designs that</a:t>
            </a:r>
          </a:p>
          <a:p>
            <a:r>
              <a:t>joint completely, checks every way it can break, builds the 3D parts and draws the sheet. It</a:t>
            </a:r>
          </a:p>
          <a:p>
            <a:r>
              <a:t>takes about ten seconds.</a:t>
            </a:r>
          </a:p>
          <a:p>
            <a:r>
              <a:t>I will cover the problem and the literature. Bhavya takes what we built, Atishay the worked</a:t>
            </a:r>
          </a:p>
          <a:p>
            <a:r>
              <a:t>example and the output, Dharmendra the verification, Ankur the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 Section opener. Say only: first, why this problem is worth solving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</a:t>
            </a:r>
          </a:p>
          <a:p>
            <a:r>
              <a:t>Designing a standard joint is not creative work, it is a fixed recipe. For a knuckle joint you</a:t>
            </a:r>
          </a:p>
          <a:p>
            <a:r>
              <a:t>find the rod from tension, size the pin twice, once for shear and once for bending, take the</a:t>
            </a:r>
          </a:p>
          <a:p>
            <a:r>
              <a:t>larger, derive seven more dimensions from the rod, then check nine ways it can fail.</a:t>
            </a:r>
          </a:p>
          <a:p>
            <a:r>
              <a:t>Change the load and you do all of it again from the start.</a:t>
            </a:r>
          </a:p>
          <a:p>
            <a:r>
              <a:t>The thinking is five minutes. The arithmetic is the afternoon.</a:t>
            </a:r>
          </a:p>
          <a:p>
            <a:r>
              <a:t>CAD removed the drawing work but not this. A modeller will happily draw a pin too thin to</a:t>
            </a:r>
          </a:p>
          <a:p>
            <a:r>
              <a:t>survive, because it does not know what a pin is.</a:t>
            </a:r>
          </a:p>
          <a:p>
            <a:r>
              <a:t>Our aim: keep every formula exactly as the textbook has it, and remove only the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 Section opener. Say: these are the three books the whole project stands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</a:t>
            </a:r>
          </a:p>
          <a:p>
            <a:r>
              <a:t>Three sources. NPTEL from IIT Kharagpur gives the full design procedure for the cotter and</a:t>
            </a:r>
          </a:p>
          <a:p>
            <a:r>
              <a:t>knuckle joints, the proportions and the failure modes. Unwin, 1899, gives the gib and cotter</a:t>
            </a:r>
          </a:p>
          <a:p>
            <a:r>
              <a:t>joint, which the course does not cover. Leutwiler, 1917, lists ten ways a cotter joint fails</a:t>
            </a:r>
          </a:p>
          <a:p>
            <a:r>
              <a:t>and analyses the flange coupling.</a:t>
            </a:r>
          </a:p>
          <a:p>
            <a:r>
              <a:t>Two of them are out of copyright, so anyone can open them and check us.</a:t>
            </a:r>
          </a:p>
          <a:p>
            <a:r>
              <a:t>If asked why three sources for six joints: two of them cover the same joint deliberately. That</a:t>
            </a:r>
          </a:p>
          <a:p>
            <a:r>
              <a:t>overlap is exactly what let us find three mistakes in the books, which Dharmendra will show.</a:t>
            </a:r>
          </a:p>
          <a:p>
            <a:r>
              <a:t>We also used SP 46 for first angle projection and the IS codes for keys, bolts and couplings.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ANSH.</a:t>
            </a:r>
          </a:p>
          <a:p>
            <a:r>
              <a:t>Three existing approaches, and what each leaves open.</a:t>
            </a:r>
          </a:p>
          <a:p>
            <a:r>
              <a:t>Parametric CAD regenerates a model when parameters change, but it does not decide the</a:t>
            </a:r>
          </a:p>
          <a:p>
            <a:r>
              <a:t>parameters. It will regenerate an unsafe model as readily as a safe one.</a:t>
            </a:r>
          </a:p>
          <a:p>
            <a:r>
              <a:t>Language models writing CAD code produce geometry fast, but no dimension can be traced to a</a:t>
            </a:r>
          </a:p>
          <a:p>
            <a:r>
              <a:t>calculation and no failure mode is checked.</a:t>
            </a:r>
          </a:p>
          <a:p>
            <a:r>
              <a:t>Expert systems are reliable but hide the calculation, so you cannot check a result against a</a:t>
            </a:r>
          </a:p>
          <a:p>
            <a:r>
              <a:t>published source.</a:t>
            </a:r>
          </a:p>
          <a:p>
            <a:r>
              <a:t>So the gap is not modelling and not language. It is the connection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BHAVYA. Section opener. Say: now what we actually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BHAVYA.</a:t>
            </a:r>
          </a:p>
          <a:p>
            <a:r>
              <a:t>Five stages. It reads the sentence into parameters. It sizes the joint starting from the</a:t>
            </a:r>
          </a:p>
          <a:p>
            <a:r>
              <a:t>governing formula, then rounds up to a standard size as the book directs. It checks every</a:t>
            </a:r>
          </a:p>
          <a:p>
            <a:r>
              <a:t>failure mode against the allowable stress, and where one fails it grows that dimension a</a:t>
            </a:r>
          </a:p>
          <a:p>
            <a:r>
              <a:t>millimetre at a time until it passes. It builds each part as an exact solid. It draws the sheet.</a:t>
            </a:r>
          </a:p>
          <a:p>
            <a:r>
              <a:t>Design rules are stored as data, not code, which is why the software can tell you the source of</a:t>
            </a:r>
          </a:p>
          <a:p>
            <a:r>
              <a:t>any dimension at the moment it computes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BHAVYA.</a:t>
            </a:r>
          </a:p>
          <a:p>
            <a:r>
              <a:t>This is the most important slide in the deck.</a:t>
            </a:r>
          </a:p>
          <a:p>
            <a:r>
              <a:t>The AI only reads the sentence. It never picks a dimension and never performs a check.</a:t>
            </a:r>
          </a:p>
          <a:p>
            <a:r>
              <a:t>Reading "50 kN" as 50,000 newtons is a language problem, and that is what a language model is</a:t>
            </a:r>
          </a:p>
          <a:p>
            <a:r>
              <a:t>good at. Choosing the pin diameter is an engineering problem with one correct answer from a</a:t>
            </a:r>
          </a:p>
          <a:p>
            <a:r>
              <a:t>formula, so that stays with ordinary deterministic code traceable to a page in a book.</a:t>
            </a:r>
          </a:p>
          <a:p>
            <a:r>
              <a:t>There is also a safeguard: any number the model returns that was not in the original sentence is</a:t>
            </a:r>
          </a:p>
          <a:p>
            <a:r>
              <a:t>thrown away and the user is told.</a:t>
            </a:r>
          </a:p>
          <a:p>
            <a:r>
              <a:t>If asked why not let AI generate the whole model: because then no number could be checked</a:t>
            </a:r>
          </a:p>
          <a:p>
            <a:r>
              <a:t>against anything, and geometry you cannot justify is useless in a design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BHAVYA.</a:t>
            </a:r>
          </a:p>
          <a:p>
            <a:r>
              <a:t>Six joints, 44 failure checks in total, and every check is satisfied.</a:t>
            </a:r>
          </a:p>
          <a:p>
            <a:r>
              <a:t>The busiest check across all six sits between 67 and 79 percent of allowable. That is</a:t>
            </a:r>
          </a:p>
          <a:p>
            <a:r>
              <a:t>deliberate, not luck: each joint is sized for 1.25 times the load you asked for, then the</a:t>
            </a:r>
          </a:p>
          <a:p>
            <a:r>
              <a:t>stresses are reported at the real load. Margin stays in hand rather than being spent on paper.</a:t>
            </a:r>
          </a:p>
          <a:p>
            <a:r>
              <a:t>The gib and cotter joint needed a decision. Unwin gives the breadth and thickness but no strap</a:t>
            </a:r>
          </a:p>
          <a:p>
            <a:r>
              <a:t>proportions. Rather than borrow a ratio from elsewhere or invent one, every dimension the source</a:t>
            </a:r>
          </a:p>
          <a:p>
            <a:r>
              <a:t>does not give is sized against a failure check until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 Section opener. Say: let me take one joint end to end, with real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Knuckle joint, 50 kN. Three calculations decide everything.</a:t>
            </a:r>
          </a:p>
          <a:p>
            <a:r>
              <a:t>Rod from direct tension gives 32.57, so the rod becomes 35, the next standard size.</a:t>
            </a:r>
          </a:p>
          <a:p>
            <a:r>
              <a:t>The pin is sized twice. Double shear asks for 25.75. Bending asks for 43.95. We take the larger,</a:t>
            </a:r>
          </a:p>
          <a:p>
            <a:r>
              <a:t>so the pin becomes 45.</a:t>
            </a:r>
          </a:p>
          <a:p>
            <a:r>
              <a:t>Bending asks for nearly 1.7 times what shear asks for. A pin sized on shear alone would pass its</a:t>
            </a:r>
          </a:p>
          <a:p>
            <a:r>
              <a:t>own check and bend in service. The textbook takes the same step.</a:t>
            </a:r>
          </a:p>
          <a:p>
            <a:r>
              <a:t>Everything else follows from the rod diameter using the book proportions, each with its source</a:t>
            </a:r>
          </a:p>
          <a:p>
            <a:r>
              <a:t>printed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All nine failure modes, evaluated at the real 50 kN, not the design load.</a:t>
            </a:r>
          </a:p>
          <a:p>
            <a:r>
              <a:t>Nine of nine are satisfied. The busiest is shear of the eye at 76 percent of its allowable.</a:t>
            </a:r>
          </a:p>
          <a:p>
            <a:r>
              <a:t>The point to make: none of this is stored. Ask for 80 kN and every number in this table changes</a:t>
            </a:r>
          </a:p>
          <a:p>
            <a:r>
              <a:t>and the pin is re-sized. It is not a library of readymade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Every run prints its working: the values before rounding, the size adopted, the rule and the</a:t>
            </a:r>
          </a:p>
          <a:p>
            <a:r>
              <a:t>source behind each proportion, every check with the numbers substituted, and the mass of each</a:t>
            </a:r>
          </a:p>
          <a:p>
            <a:r>
              <a:t>part.</a:t>
            </a:r>
          </a:p>
          <a:p>
            <a:r>
              <a:t>Why that matters: a reviewer does not have to trust the result. Any line can be recomputed by</a:t>
            </a:r>
          </a:p>
          <a:p>
            <a:r>
              <a:t>hand from the formula printed next to it.</a:t>
            </a:r>
          </a:p>
          <a:p>
            <a:r>
              <a:t>It is also the reason the findings later in this deck exist. Printing every check is what made</a:t>
            </a:r>
          </a:p>
          <a:p>
            <a:r>
              <a:t>the errors in the books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 Section opener. Say: and this is what comes out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A first angle A3 sheet with front view, side view, plan, an isometric, dimension lines and a</a:t>
            </a:r>
          </a:p>
          <a:p>
            <a:r>
              <a:t>title block. Produced by driving FreeCAD without opening its interface.</a:t>
            </a:r>
          </a:p>
          <a:p>
            <a:r>
              <a:t>Alongside it: a STEP file for every part and one for the assembly, which opens in NX,</a:t>
            </a:r>
          </a:p>
          <a:p>
            <a:r>
              <a:t>SolidWorks, Fusion and Onshape, a DXF for AutoCAD, and an editable FreeCAD file.</a:t>
            </a:r>
          </a:p>
          <a:p>
            <a:r>
              <a:t>STEP is a neutral format, so the output is not locked to our software.</a:t>
            </a:r>
          </a:p>
          <a:p>
            <a:r>
              <a:t>Next slide shows exactly what that NX claim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One of our stated objectives is that the output opens in commercial CAD, specifically NX10,</a:t>
            </a:r>
          </a:p>
          <a:p>
            <a:r>
              <a:t>since that is what we are taught on in the lab. Here is what we actually checked, not what we</a:t>
            </a:r>
          </a:p>
          <a:p>
            <a:r>
              <a:t>assumed.</a:t>
            </a:r>
          </a:p>
          <a:p>
            <a:r>
              <a:t>We opened the exported file as text and read it directly. The schema line reads AUTOMOTIVE</a:t>
            </a:r>
          </a:p>
          <a:p>
            <a:r>
              <a:t>DESIGN, AP214, which is the exact STEP format NX10 reads natively. Inside it, four separate</a:t>
            </a:r>
          </a:p>
          <a:p>
            <a:r>
              <a:t>named parts, rod, strap, cotter, gib, each its own solid, not fused into one body. That is the</a:t>
            </a:r>
          </a:p>
          <a:p>
            <a:r>
              <a:t>structure an assembly import needs.</a:t>
            </a:r>
          </a:p>
          <a:p>
            <a:r>
              <a:t>We are saying this plainly: opening it inside NX10 itself still needs a lab machine, which</a:t>
            </a:r>
          </a:p>
          <a:p>
            <a:r>
              <a:t>none of us has done yet. If asked, say exactly that, do not claim it was opened when it was not.</a:t>
            </a:r>
          </a:p>
          <a:p>
            <a:r>
              <a:t>We verified the file is built correctly; we have not yet watched NX10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The assembled model, which rotates in the browser, and the same joint coloured by how close each</a:t>
            </a:r>
          </a:p>
          <a:p>
            <a:r>
              <a:t>part is to its limit.</a:t>
            </a:r>
          </a:p>
          <a:p>
            <a:r>
              <a:t>The colouring is useful because it puts the weakest member in front of you without reading a</a:t>
            </a:r>
          </a:p>
          <a:p>
            <a:r>
              <a:t>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DHARMENDRA. Section opener. Say: now, how do we know any of this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DHARMENDRA.</a:t>
            </a:r>
          </a:p>
          <a:p>
            <a:r>
              <a:t>Every proportion and every check was compared against the three sources.</a:t>
            </a:r>
          </a:p>
          <a:p>
            <a:r>
              <a:t>Knuckle and cotter are fully verified. The cotter joint is verified twice over, against two</a:t>
            </a:r>
          </a:p>
          <a:p>
            <a:r>
              <a:t>independent books.</a:t>
            </a:r>
          </a:p>
          <a:p>
            <a:r>
              <a:t>Two entries are honest limitations rather than gaps. For the flange coupling all seven checks</a:t>
            </a:r>
          </a:p>
          <a:p>
            <a:r>
              <a:t>are verified twice, but the proportions cannot be verified, because Leutwiler records that no</a:t>
            </a:r>
          </a:p>
          <a:p>
            <a:r>
              <a:t>standard set of flange coupling proportions was ever agreed and that published tables are</a:t>
            </a:r>
          </a:p>
          <a:p>
            <a:r>
              <a:t>individual manufacturers' practice. For the sleeve and cotter joint we searched four books and</a:t>
            </a:r>
          </a:p>
          <a:p>
            <a:r>
              <a:t>none covers it by name.</a:t>
            </a:r>
          </a:p>
          <a:p>
            <a:r>
              <a:t>Where no source exists, the software says so on every single run rather than implying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DHARMENDRA.</a:t>
            </a:r>
          </a:p>
          <a:p>
            <a:r>
              <a:t>The first of three errors we found in the published sources.</a:t>
            </a:r>
          </a:p>
          <a:p>
            <a:r>
              <a:t>The knuckle worked problem raises the pin from 40 to 55 millimetres to satisfy bending, then</a:t>
            </a:r>
          </a:p>
          <a:p>
            <a:r>
              <a:t>checks the eye using the original 40 millimetre pin.</a:t>
            </a:r>
          </a:p>
          <a:p>
            <a:r>
              <a:t>Put the pin it actually adopted into its own expression and you get 80 MPa against an allowable</a:t>
            </a:r>
          </a:p>
          <a:p>
            <a:r>
              <a:t>of 65. Its own answer fails its own check by 23 percent.</a:t>
            </a:r>
          </a:p>
          <a:p>
            <a:r>
              <a:t>Our software instead enlarges the outer diameter of the eye until the check passes, and reports</a:t>
            </a:r>
          </a:p>
          <a:p>
            <a:r>
              <a:t>that it has done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DHARMENDRA.</a:t>
            </a:r>
          </a:p>
          <a:p>
            <a:r>
              <a:t>Two more.</a:t>
            </a:r>
          </a:p>
          <a:p>
            <a:r>
              <a:t>The cotter procedure checks crushing of the socket but never crushing between the cotter and the</a:t>
            </a:r>
          </a:p>
          <a:p>
            <a:r>
              <a:t>spigot. At its own final answer that omitted check reads 167 MPa against 110 allowed. Leutwiler</a:t>
            </a:r>
          </a:p>
          <a:p>
            <a:r>
              <a:t>lists it as one of ten failure modes, which is what makes it an omission and not a preference.</a:t>
            </a:r>
          </a:p>
          <a:p>
            <a:r>
              <a:t>Second, the bolt tightening constant is printed as 284 d kilonewtons, but the worked example on</a:t>
            </a:r>
          </a:p>
          <a:p>
            <a:r>
              <a:t>the same page gives 56.8 kN for an M20 bolt. That only works if the constant is 2840 d newtons.</a:t>
            </a:r>
          </a:p>
          <a:p>
            <a:r>
              <a:t>The page refutes itself, and it is out by a factor of one hundred.</a:t>
            </a:r>
          </a:p>
          <a:p>
            <a:r>
              <a:t>We found none of these by reading. We found them because the software computes every check and</a:t>
            </a:r>
          </a:p>
          <a:p>
            <a:r>
              <a:t>prints the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 Section opener. Say: finally, how the work is validated and what it does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An independent finite element cross check.</a:t>
            </a:r>
          </a:p>
          <a:p>
            <a:r>
              <a:t>First validated on a case with a known answer: a 20 mm bar in tension, formula 31.83, computed</a:t>
            </a:r>
          </a:p>
          <a:p>
            <a:r>
              <a:t>32.22, a difference of 1.2 percent.</a:t>
            </a:r>
          </a:p>
          <a:p>
            <a:r>
              <a:t>On the knuckle eye rod: formula 52.0, computed 57.9, about 11.5 percent higher. That is expected,</a:t>
            </a:r>
          </a:p>
          <a:p>
            <a:r>
              <a:t>because the formula treats the rod as a plain bar and ignores the stress raised at the pin bore.</a:t>
            </a:r>
          </a:p>
          <a:p>
            <a:r>
              <a:t>Both stay under the 75 MPa allowable.</a:t>
            </a:r>
          </a:p>
          <a:p>
            <a:r>
              <a:t>The important part: a peak that never settles is not a stress. On one part the computed peak</a:t>
            </a:r>
          </a:p>
          <a:p>
            <a:r>
              <a:t>moved between 157 and 191 MPa as we refined the mesh sixteen fold. So the software re-solves on</a:t>
            </a:r>
          </a:p>
          <a:p>
            <a:r>
              <a:t>a finer mesh and reports NOT CONVERGED when the number will not settle, and tells you to design</a:t>
            </a:r>
          </a:p>
          <a:p>
            <a:r>
              <a:t>to the hand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290 automated tests run on every change: the arithmetic, the geometry, the parsing, the drawing</a:t>
            </a:r>
          </a:p>
          <a:p>
            <a:r>
              <a:t>and the analysis.</a:t>
            </a:r>
          </a:p>
          <a:p>
            <a:r>
              <a:t>The row that matters most is the last one. There are tests that assert the three errors in the</a:t>
            </a:r>
          </a:p>
          <a:p>
            <a:r>
              <a:t>books are real. Without them, someone could later correct our software back to the printed</a:t>
            </a:r>
          </a:p>
          <a:p>
            <a:r>
              <a:t>answers and every other test would still pass.</a:t>
            </a:r>
          </a:p>
          <a:p>
            <a:r>
              <a:t>One test found something no dimension check could: comparing the solids pairwise caught a gib</a:t>
            </a:r>
          </a:p>
          <a:p>
            <a:r>
              <a:t>hook modelled 1.25 millimetres inside the strap, occupying metal another part already occupied,</a:t>
            </a:r>
          </a:p>
          <a:p>
            <a:r>
              <a:t>while every individual dimension was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What it does not do, said before anyone asks.</a:t>
            </a:r>
          </a:p>
          <a:p>
            <a:r>
              <a:t>Static loading only, so no fatigue and no stress concentration factors. Nominal dimensions only,</a:t>
            </a:r>
          </a:p>
          <a:p>
            <a:r>
              <a:t>so no tolerances or fits, which means the sheet is not yet a manufacturing drawing. Three of the</a:t>
            </a:r>
          </a:p>
          <a:p>
            <a:r>
              <a:t>six joints have proportions with no book behind them, and the software says so every run. Nut</a:t>
            </a:r>
          </a:p>
          <a:p>
            <a:r>
              <a:t>thread stripping is not checked.</a:t>
            </a:r>
          </a:p>
          <a:p>
            <a:r>
              <a:t>Future scope: riveted and welded joints follow the same pattern, then fatigue, then tolerances</a:t>
            </a:r>
          </a:p>
          <a:p>
            <a:r>
              <a:t>and fits, then a journal script so the assembly builds inside NX rather than being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Six objectives, set out at the start, each checked against the evidence rather than restated as</a:t>
            </a:r>
          </a:p>
          <a:p>
            <a:r>
              <a:t>done.</a:t>
            </a:r>
          </a:p>
          <a:p>
            <a:r>
              <a:t>Three are met without qualification: reading plain English, sizing and verifying with</a:t>
            </a:r>
          </a:p>
          <a:p>
            <a:r>
              <a:t>iteration, and browser use without install. Three are met in part: the NX10 import is right in</a:t>
            </a:r>
          </a:p>
          <a:p>
            <a:r>
              <a:t>structure, AP214 with each part its own solid, but not yet watched opening in the lab; the sheet</a:t>
            </a:r>
          </a:p>
          <a:p>
            <a:r>
              <a:t>has projection and layout but no tolerances; and two joints are only partly verified.</a:t>
            </a:r>
          </a:p>
          <a:p>
            <a:r>
              <a:t>If asked why show this at all instead of just claiming six for six: because recording the gaps</a:t>
            </a:r>
          </a:p>
          <a:p>
            <a:r>
              <a:t>honestly is itself part of what Objective 5 asked for. A scorecard that hides its open items</a:t>
            </a:r>
          </a:p>
          <a:p>
            <a:r>
              <a:t>would undercut the exact thing it is trying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The timeline.</a:t>
            </a:r>
          </a:p>
          <a:p>
            <a:r>
              <a:t>Green is finished, amber is where we stand today, grey is what we propose for semester eight.</a:t>
            </a:r>
          </a:p>
          <a:p>
            <a:r>
              <a:t>Everything you have seen in this presentation is in the green and amber blocks.</a:t>
            </a:r>
          </a:p>
          <a:p>
            <a:r>
              <a:t>Phase one was the literature and the design procedure. Phase two was the sizing engine and all</a:t>
            </a:r>
          </a:p>
          <a:p>
            <a:r>
              <a:t>six joints with their forty-four checks. Phase three, where we are now, is the solid modelling,</a:t>
            </a:r>
          </a:p>
          <a:p>
            <a:r>
              <a:t>the drawing sheet, the verification against the three books, the finite element cross check,</a:t>
            </a:r>
          </a:p>
          <a:p>
            <a:r>
              <a:t>the tests and the deployment.</a:t>
            </a:r>
          </a:p>
          <a:p>
            <a:r>
              <a:t>Semester eight is a proposal taken from the limits on the previous slide, to be agreed with our</a:t>
            </a:r>
          </a:p>
          <a:p>
            <a:r>
              <a:t>guide: riveted and welded joints, fatigue, tolerances and fits, the two proportion sets that</a:t>
            </a:r>
          </a:p>
          <a:p>
            <a:r>
              <a:t>still have no source, an NX journal and a bill of materials.</a:t>
            </a:r>
          </a:p>
          <a:p>
            <a:r>
              <a:t>We are not giving week-by-week dates because we have not fixed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ATISHAY.</a:t>
            </a:r>
          </a:p>
          <a:p>
            <a:r>
              <a:t>If you are asked whether this is a PINN, or where the AI is, use this slide.</a:t>
            </a:r>
          </a:p>
          <a:p>
            <a:r>
              <a:t>Say: the language model reads the sentence and nothing else. Every dimension comes from the</a:t>
            </a:r>
          </a:p>
          <a:p>
            <a:r>
              <a:t>mechanics equations on the screen, and every one of the nine failure modes is checked.</a:t>
            </a:r>
          </a:p>
          <a:p>
            <a:r>
              <a:t>A PINN is a neural network that gets penalised when it breaks physics, so it is usually right.</a:t>
            </a:r>
          </a:p>
          <a:p>
            <a:r>
              <a:t>Here physics is not a penalty, it is the calculation, so it cannot be wrong in that way.</a:t>
            </a:r>
          </a:p>
          <a:p>
            <a:r>
              <a:t>If a check fails, the part grows a millimetre and every check runs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ANKUR.</a:t>
            </a:r>
          </a:p>
          <a:p>
            <a:r>
              <a:t>To close.</a:t>
            </a:r>
          </a:p>
          <a:p>
            <a:r>
              <a:t>Every dimension this software produces can be traced to a formula, and every formula to a page</a:t>
            </a:r>
          </a:p>
          <a:p>
            <a:r>
              <a:t>in a book. That is the difference between a tool that designs and one that only draws.</a:t>
            </a:r>
          </a:p>
          <a:p>
            <a:r>
              <a:t>The language model reads the requirement. The engineering stays deterministic, checked, and open</a:t>
            </a:r>
          </a:p>
          <a:p>
            <a:r>
              <a:t>to inspection.</a:t>
            </a:r>
          </a:p>
          <a:p>
            <a:r>
              <a:t>Six joints, 44 checks, 290 tests, and three errors found in published literature along the way.</a:t>
            </a:r>
          </a:p>
          <a:p>
            <a:r>
              <a:t>Thank you.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